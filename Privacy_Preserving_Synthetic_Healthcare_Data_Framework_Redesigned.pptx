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0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463040"/>
            <a:ext cx="5669280" cy="566928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108960" cy="3108960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4" name="Shape 2"/>
          <p:cNvSpPr/>
          <p:nvPr/>
        </p:nvSpPr>
        <p:spPr>
          <a:xfrm>
            <a:off x="10561320" y="3520440"/>
            <a:ext cx="2651760" cy="2651760"/>
          </a:xfrm>
          <a:prstGeom prst="ellipse">
            <a:avLst/>
          </a:prstGeom>
          <a:solidFill>
            <a:srgbClr val="132043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00200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PRIVACY-PRESERVING SYNTHETIC HEALTHCARE DATA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87782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Generic, Auto-Configuring Diffusion +</a:t>
            </a:r>
            <a:endParaRPr lang="en-US" sz="38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Differential Privacy Framework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822960" y="37947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9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architecture, then all ten execution phases — implemented end to end.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4343400"/>
            <a:ext cx="2880360" cy="457200"/>
          </a:xfrm>
          <a:prstGeom prst="roundRect">
            <a:avLst>
              <a:gd name="adj" fmla="val 50000"/>
            </a:avLst>
          </a:prstGeom>
          <a:solidFill>
            <a:srgbClr val="16382F"/>
          </a:solidFill>
          <a:ln w="12700">
            <a:solidFill>
              <a:srgbClr val="1F9D6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4526280"/>
            <a:ext cx="100584" cy="100584"/>
          </a:xfrm>
          <a:prstGeom prst="ellipse">
            <a:avLst/>
          </a:prstGeom>
          <a:solidFill>
            <a:srgbClr val="1F9D6B"/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434340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FE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10 PHASES IMPLEMENTED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22960" y="5166360"/>
            <a:ext cx="7863840" cy="0"/>
          </a:xfrm>
          <a:prstGeom prst="line">
            <a:avLst/>
          </a:prstGeom>
          <a:noFill/>
          <a:ln w="12700">
            <a:solidFill>
              <a:srgbClr val="3145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53949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Sathya Sai 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22960" y="57150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24MID0112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520440" y="53949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Sudharshini Manikandan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520440" y="57150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24MID0135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217920" y="53949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Vishwa D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217920" y="57150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24MID0119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B7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82296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7E4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417320" y="1847088"/>
            <a:ext cx="4434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Framework Overview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417320" y="2212848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synthetic data, and the architecture at a glance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926080"/>
            <a:ext cx="82296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7E4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417320" y="2944368"/>
            <a:ext cx="4434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Setup &amp; Preparation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17320" y="3310128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1–3: foundation, environment, profiling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4023360"/>
            <a:ext cx="82296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7E4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417320" y="4041648"/>
            <a:ext cx="4434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 &amp; Privacy Integration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17320" y="4407408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4–5: baseline model, DP-SGD, risk tiers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17920" y="1828800"/>
            <a:ext cx="82296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7E4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995160" y="1847088"/>
            <a:ext cx="4434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Budgeting &amp; Data Generation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995160" y="2212848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6–7: epsilon sweep, full pipeline run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17920" y="2926080"/>
            <a:ext cx="82296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7E4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995160" y="2944368"/>
            <a:ext cx="4434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 Delivery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995160" y="3310128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8–10: utility, red-team, packaged release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17920" y="4023360"/>
            <a:ext cx="82296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7E4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995160" y="4041648"/>
            <a:ext cx="4434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Insights &amp; Final Thoughts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995160" y="4407408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Small-dataset branch, epsilon choice, takeaways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320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931920"/>
            <a:ext cx="5486400" cy="54864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33172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2A3C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2834640" y="283464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&amp; Framework Overview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2880360" y="2788920"/>
            <a:ext cx="0" cy="1051560"/>
          </a:xfrm>
          <a:prstGeom prst="line">
            <a:avLst/>
          </a:prstGeom>
          <a:noFill/>
          <a:ln w="38100">
            <a:solidFill>
              <a:srgbClr val="0FA3A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B7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FRAMEWORK OVERVIEW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Framework Matters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908792" cy="0"/>
          </a:xfrm>
          <a:prstGeom prst="line">
            <a:avLst/>
          </a:prstGeom>
          <a:noFill/>
          <a:ln w="12700">
            <a:solidFill>
              <a:srgbClr val="DCE4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91640"/>
            <a:ext cx="384048" cy="384048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91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092" dirty="0"/>
          </a:p>
        </p:txBody>
      </p:sp>
      <p:sp>
        <p:nvSpPr>
          <p:cNvPr id="7" name="Text 5"/>
          <p:cNvSpPr/>
          <p:nvPr/>
        </p:nvSpPr>
        <p:spPr>
          <a:xfrm>
            <a:off x="1152144" y="1691640"/>
            <a:ext cx="3008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Sharing Dilemma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58368" y="2258568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patient tables enable research, but direct release can expose identities.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58368" y="3035808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anonymization is brittle against linkage and re-identification.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416552" y="1691640"/>
            <a:ext cx="384048" cy="384048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11" name="Text 9"/>
          <p:cNvSpPr/>
          <p:nvPr/>
        </p:nvSpPr>
        <p:spPr>
          <a:xfrm>
            <a:off x="4416552" y="1691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092" dirty="0"/>
          </a:p>
        </p:txBody>
      </p:sp>
      <p:sp>
        <p:nvSpPr>
          <p:cNvPr id="12" name="Text 10"/>
          <p:cNvSpPr/>
          <p:nvPr/>
        </p:nvSpPr>
        <p:spPr>
          <a:xfrm>
            <a:off x="4928616" y="1691640"/>
            <a:ext cx="3008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Synthetic Data Unlocks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434840" y="2258568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shareable records that preserve key patterns for analysis and modeling.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434840" y="3035808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exploration and collaboration without distributing originals.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93024" y="1691640"/>
            <a:ext cx="384048" cy="384048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16" name="Text 14"/>
          <p:cNvSpPr/>
          <p:nvPr/>
        </p:nvSpPr>
        <p:spPr>
          <a:xfrm>
            <a:off x="8193024" y="1691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92" dirty="0"/>
          </a:p>
        </p:txBody>
      </p:sp>
      <p:sp>
        <p:nvSpPr>
          <p:cNvPr id="17" name="Text 15"/>
          <p:cNvSpPr/>
          <p:nvPr/>
        </p:nvSpPr>
        <p:spPr>
          <a:xfrm>
            <a:off x="8705088" y="1691640"/>
            <a:ext cx="3008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Framework's Promise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211312" y="2258568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High-fidelity diffusion generation paired with a formal (ε, δ) DP guarantee.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211312" y="3035808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measurable privacy-utility tradeoff matched to risk tolerance.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B7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FRAMEWORK OVERVIEW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at a Glance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908792" cy="0"/>
          </a:xfrm>
          <a:prstGeom prst="line">
            <a:avLst/>
          </a:prstGeom>
          <a:noFill/>
          <a:ln w="12700">
            <a:solidFill>
              <a:srgbClr val="DCE4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737360"/>
            <a:ext cx="384048" cy="384048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7373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092" dirty="0"/>
          </a:p>
        </p:txBody>
      </p:sp>
      <p:sp>
        <p:nvSpPr>
          <p:cNvPr id="7" name="Text 5"/>
          <p:cNvSpPr/>
          <p:nvPr/>
        </p:nvSpPr>
        <p:spPr>
          <a:xfrm>
            <a:off x="1152144" y="1737360"/>
            <a:ext cx="48828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Pipeline, Not a One-Off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58368" y="2331720"/>
            <a:ext cx="5349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any tabular healthcare dataset.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8368" y="2843784"/>
            <a:ext cx="5349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Auto-configuration sets preprocessing and training defaults from profiles.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537960" y="1737360"/>
            <a:ext cx="384048" cy="384048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17373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092" dirty="0"/>
          </a:p>
        </p:txBody>
      </p:sp>
      <p:sp>
        <p:nvSpPr>
          <p:cNvPr id="12" name="Text 10"/>
          <p:cNvSpPr/>
          <p:nvPr/>
        </p:nvSpPr>
        <p:spPr>
          <a:xfrm>
            <a:off x="7050024" y="1737360"/>
            <a:ext cx="48828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Flow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56248" y="2331720"/>
            <a:ext cx="5349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columns, then encode and scale into a model-ready tensor.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56248" y="2843784"/>
            <a:ext cx="5349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diffusion denoiser with DP-SGD and privacy accounting.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56248" y="3355848"/>
            <a:ext cx="5349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new records, then inverse-transform back to the original schema.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160520"/>
            <a:ext cx="10908792" cy="1508760"/>
          </a:xfrm>
          <a:prstGeom prst="roundRect">
            <a:avLst>
              <a:gd name="adj" fmla="val 4848"/>
            </a:avLst>
          </a:prstGeom>
          <a:solidFill>
            <a:srgbClr val="EAF1F6"/>
          </a:solidFill>
          <a:ln w="12700">
            <a:solidFill>
              <a:srgbClr val="EAF1F6"/>
            </a:solidFill>
            <a:prstDash val="solid"/>
          </a:ln>
          <a:effectLst>
            <a:outerShdw sx="100000" sy="100000" kx="0" ky="0" algn="bl" rotWithShape="0" blurRad="101600" dist="38100" dir="5400000">
              <a:srgbClr val="1A2233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4400" y="432511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B7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REPEATABILITY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4400" y="4663440"/>
            <a:ext cx="9966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schema registry persists encoders and column order across runs.</a:t>
            </a:r>
            <a:endParaRPr lang="en-US" sz="1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modules report utility and membership-inference resistance.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B7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FRAMEWORK OVERVIEW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Layers Working Together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908792" cy="0"/>
          </a:xfrm>
          <a:prstGeom prst="line">
            <a:avLst/>
          </a:prstGeom>
          <a:noFill/>
          <a:ln w="12700">
            <a:solidFill>
              <a:srgbClr val="DCE4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737360"/>
            <a:ext cx="1417320" cy="3931920"/>
          </a:xfrm>
          <a:prstGeom prst="roundRect">
            <a:avLst>
              <a:gd name="adj" fmla="val 5161"/>
            </a:avLst>
          </a:prstGeom>
          <a:solidFill>
            <a:srgbClr val="132043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1A2233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9808" y="1874520"/>
            <a:ext cx="1197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A3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49808" y="2286000"/>
            <a:ext cx="11978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Auto-Configuration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49808" y="3017520"/>
            <a:ext cx="1197864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7D3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Profiles each dataset and sets rules without hand-tuning.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221992" y="1737360"/>
            <a:ext cx="1417320" cy="39319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1A2233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331720" y="1874520"/>
            <a:ext cx="1197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D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331720" y="2286000"/>
            <a:ext cx="11978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331720" y="3017520"/>
            <a:ext cx="1197864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structured healthcare datasets, any schema.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803904" y="1737360"/>
            <a:ext cx="1417320" cy="3931920"/>
          </a:xfrm>
          <a:prstGeom prst="roundRect">
            <a:avLst>
              <a:gd name="adj" fmla="val 5161"/>
            </a:avLst>
          </a:prstGeom>
          <a:solidFill>
            <a:srgbClr val="EAF1F6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1A2233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913632" y="1874520"/>
            <a:ext cx="1197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D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913632" y="2286000"/>
            <a:ext cx="11978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913632" y="3017520"/>
            <a:ext cx="1197864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Types, missingness flags, category encoding, scaling — fully invertible.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385816" y="1737360"/>
            <a:ext cx="1417320" cy="39319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1A2233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95544" y="1874520"/>
            <a:ext cx="1197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D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495544" y="2286000"/>
            <a:ext cx="11978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95544" y="3017520"/>
            <a:ext cx="1197864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DP-SGD-wrapped diffusion denoiser with per-feature budgets.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967728" y="1737360"/>
            <a:ext cx="1417320" cy="3931920"/>
          </a:xfrm>
          <a:prstGeom prst="roundRect">
            <a:avLst>
              <a:gd name="adj" fmla="val 5161"/>
            </a:avLst>
          </a:prstGeom>
          <a:solidFill>
            <a:srgbClr val="EAF1F6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1A2233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077456" y="1874520"/>
            <a:ext cx="1197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D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077456" y="2286000"/>
            <a:ext cx="11978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077456" y="3017520"/>
            <a:ext cx="1197864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sampling from noise; inverse-transform to original schema.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549640" y="1737360"/>
            <a:ext cx="1417320" cy="39319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1A2233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659368" y="1874520"/>
            <a:ext cx="1197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D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659368" y="2286000"/>
            <a:ext cx="11978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659368" y="3017520"/>
            <a:ext cx="1197864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Utility, MIA risk, and leak tests gate every release.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10131552" y="1737360"/>
            <a:ext cx="1417320" cy="3931920"/>
          </a:xfrm>
          <a:prstGeom prst="roundRect">
            <a:avLst>
              <a:gd name="adj" fmla="val 5161"/>
            </a:avLst>
          </a:prstGeom>
          <a:solidFill>
            <a:srgbClr val="EAF1F6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1A2233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0241280" y="1874520"/>
            <a:ext cx="1197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D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L6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0241280" y="2286000"/>
            <a:ext cx="11978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10241280" y="3017520"/>
            <a:ext cx="1197864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Persists column order and transforms for reproducibility.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B7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FRAMEWORK OVERVIEW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Building Blocks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908792" cy="0"/>
          </a:xfrm>
          <a:prstGeom prst="line">
            <a:avLst/>
          </a:prstGeom>
          <a:noFill/>
          <a:ln w="12700">
            <a:solidFill>
              <a:srgbClr val="DCE4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91640"/>
            <a:ext cx="384048" cy="384048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91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092" dirty="0"/>
          </a:p>
        </p:txBody>
      </p:sp>
      <p:sp>
        <p:nvSpPr>
          <p:cNvPr id="7" name="Text 5"/>
          <p:cNvSpPr/>
          <p:nvPr/>
        </p:nvSpPr>
        <p:spPr>
          <a:xfrm>
            <a:off x="1152144" y="1691640"/>
            <a:ext cx="3008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Is the Source of Truth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58368" y="2258568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Pydantic schemas lock thresholds, budgets, and defaults.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58368" y="3035808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Immutability prevents silent changes that break privacy or results.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416552" y="1691640"/>
            <a:ext cx="384048" cy="384048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11" name="Text 9"/>
          <p:cNvSpPr/>
          <p:nvPr/>
        </p:nvSpPr>
        <p:spPr>
          <a:xfrm>
            <a:off x="4416552" y="1691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092" dirty="0"/>
          </a:p>
        </p:txBody>
      </p:sp>
      <p:sp>
        <p:nvSpPr>
          <p:cNvPr id="12" name="Text 10"/>
          <p:cNvSpPr/>
          <p:nvPr/>
        </p:nvSpPr>
        <p:spPr>
          <a:xfrm>
            <a:off x="4928616" y="1691640"/>
            <a:ext cx="3008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Profiling Drives Safe Automation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434840" y="2258568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Profiler infers types, flags near-identifiers, and detects HIPAA fields.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434840" y="3035808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Missingness is measured and classified to guide preprocessing.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93024" y="1691640"/>
            <a:ext cx="384048" cy="384048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16" name="Text 14"/>
          <p:cNvSpPr/>
          <p:nvPr/>
        </p:nvSpPr>
        <p:spPr>
          <a:xfrm>
            <a:off x="8193024" y="1691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92" dirty="0"/>
          </a:p>
        </p:txBody>
      </p:sp>
      <p:sp>
        <p:nvSpPr>
          <p:cNvPr id="17" name="Text 15"/>
          <p:cNvSpPr/>
          <p:nvPr/>
        </p:nvSpPr>
        <p:spPr>
          <a:xfrm>
            <a:off x="8705088" y="1691640"/>
            <a:ext cx="3008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Registries Make Outputs Reproducible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211312" y="2258568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Registry persists column order, encoders, scalers for decoding.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211312" y="3035808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Versioned, integrity-checked saves keep runs consistent.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B7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FRAMEWORK OVERVIEW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Data Flows End to End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908792" cy="0"/>
          </a:xfrm>
          <a:prstGeom prst="line">
            <a:avLst/>
          </a:prstGeom>
          <a:noFill/>
          <a:ln w="12700">
            <a:solidFill>
              <a:srgbClr val="DCE4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783080"/>
            <a:ext cx="2521458" cy="3566160"/>
          </a:xfrm>
          <a:prstGeom prst="roundRect">
            <a:avLst>
              <a:gd name="adj" fmla="val 2901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1A2233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011680"/>
            <a:ext cx="457200" cy="457200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606040"/>
            <a:ext cx="206425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&amp; Configure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68680" y="3200400"/>
            <a:ext cx="2064258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 column types, missingness, HIPAA flags; auto-set preprocessing rules and risk tiers.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115818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7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435858" y="1783080"/>
            <a:ext cx="2521458" cy="3566160"/>
          </a:xfrm>
          <a:prstGeom prst="roundRect">
            <a:avLst>
              <a:gd name="adj" fmla="val 2901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1A2233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64458" y="2011680"/>
            <a:ext cx="457200" cy="457200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13" name="Text 11"/>
          <p:cNvSpPr/>
          <p:nvPr/>
        </p:nvSpPr>
        <p:spPr>
          <a:xfrm>
            <a:off x="3664458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64458" y="2606040"/>
            <a:ext cx="206425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664458" y="3200400"/>
            <a:ext cx="2064258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unsafe fields, add missingness indicators, encode categoricals, scale, align columns.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11596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7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231636" y="1783080"/>
            <a:ext cx="2521458" cy="3566160"/>
          </a:xfrm>
          <a:prstGeom prst="roundRect">
            <a:avLst>
              <a:gd name="adj" fmla="val 2901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1A2233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60236" y="2011680"/>
            <a:ext cx="457200" cy="457200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19" name="Text 17"/>
          <p:cNvSpPr/>
          <p:nvPr/>
        </p:nvSpPr>
        <p:spPr>
          <a:xfrm>
            <a:off x="6460236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60236" y="2606040"/>
            <a:ext cx="206425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&amp; Generate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460236" y="3200400"/>
            <a:ext cx="2064258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diffusion on the tensor with DP-SGD; sample from noise and denoise into rows.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707374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7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9027414" y="1783080"/>
            <a:ext cx="2521458" cy="3566160"/>
          </a:xfrm>
          <a:prstGeom prst="roundRect">
            <a:avLst>
              <a:gd name="adj" fmla="val 2901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1A2233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256014" y="2011680"/>
            <a:ext cx="457200" cy="457200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25" name="Text 23"/>
          <p:cNvSpPr/>
          <p:nvPr/>
        </p:nvSpPr>
        <p:spPr>
          <a:xfrm>
            <a:off x="9256014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256014" y="2606040"/>
            <a:ext cx="206425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 &amp; Export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9256014" y="3200400"/>
            <a:ext cx="2064258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Inverse-transform via the schema registry; export a schema-matching synthetic table.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320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931920"/>
            <a:ext cx="5486400" cy="54864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33172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2A3C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2834640" y="283464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Setup &amp; Preparation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2880360" y="2788920"/>
            <a:ext cx="0" cy="1051560"/>
          </a:xfrm>
          <a:prstGeom prst="line">
            <a:avLst/>
          </a:prstGeom>
          <a:noFill/>
          <a:ln w="38100">
            <a:solidFill>
              <a:srgbClr val="0FA3A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B7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SETUP AND PREPARATION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96112"/>
            <a:ext cx="8778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Setup Foundation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9966960" y="50292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E7F7F0"/>
          </a:solidFill>
          <a:ln w="9525">
            <a:solidFill>
              <a:srgbClr val="1F9D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94976" y="612648"/>
            <a:ext cx="91440" cy="91440"/>
          </a:xfrm>
          <a:prstGeom prst="ellipse">
            <a:avLst/>
          </a:prstGeom>
          <a:solidFill>
            <a:srgbClr val="1F9D6B"/>
          </a:solidFill>
          <a:ln/>
        </p:spPr>
      </p:sp>
      <p:sp>
        <p:nvSpPr>
          <p:cNvPr id="7" name="Text 5"/>
          <p:cNvSpPr/>
          <p:nvPr/>
        </p:nvSpPr>
        <p:spPr>
          <a:xfrm>
            <a:off x="10241280" y="502920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9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481328"/>
            <a:ext cx="10908792" cy="0"/>
          </a:xfrm>
          <a:prstGeom prst="line">
            <a:avLst/>
          </a:prstGeom>
          <a:noFill/>
          <a:ln w="12700">
            <a:solidFill>
              <a:srgbClr val="DCE4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783080"/>
            <a:ext cx="384048" cy="384048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783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092" dirty="0"/>
          </a:p>
        </p:txBody>
      </p:sp>
      <p:sp>
        <p:nvSpPr>
          <p:cNvPr id="11" name="Text 9"/>
          <p:cNvSpPr/>
          <p:nvPr/>
        </p:nvSpPr>
        <p:spPr>
          <a:xfrm>
            <a:off x="1152144" y="1783080"/>
            <a:ext cx="3008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Skeleton &amp; Contracts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58368" y="2350008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modular layers (config, profiling, preprocessing, registry) for reuse.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58368" y="3127248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a round-trip contract so decoded outputs match original schema.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416552" y="1783080"/>
            <a:ext cx="384048" cy="384048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15" name="Text 13"/>
          <p:cNvSpPr/>
          <p:nvPr/>
        </p:nvSpPr>
        <p:spPr>
          <a:xfrm>
            <a:off x="4416552" y="1783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092" dirty="0"/>
          </a:p>
        </p:txBody>
      </p:sp>
      <p:sp>
        <p:nvSpPr>
          <p:cNvPr id="16" name="Text 14"/>
          <p:cNvSpPr/>
          <p:nvPr/>
        </p:nvSpPr>
        <p:spPr>
          <a:xfrm>
            <a:off x="4928616" y="1783080"/>
            <a:ext cx="3008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Configuration Defaults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434840" y="2350008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 defaults: epsilon/delta, batch size, epochs, timesteps.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434840" y="3127248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typed schemas prevent silent threshold drift.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93024" y="1783080"/>
            <a:ext cx="384048" cy="384048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20" name="Text 18"/>
          <p:cNvSpPr/>
          <p:nvPr/>
        </p:nvSpPr>
        <p:spPr>
          <a:xfrm>
            <a:off x="8193024" y="1783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92" dirty="0"/>
          </a:p>
        </p:txBody>
      </p:sp>
      <p:sp>
        <p:nvSpPr>
          <p:cNvPr id="21" name="Text 19"/>
          <p:cNvSpPr/>
          <p:nvPr/>
        </p:nvSpPr>
        <p:spPr>
          <a:xfrm>
            <a:off x="8705088" y="1783080"/>
            <a:ext cx="3008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 &amp; Reproducibility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8211312" y="2350008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core stack: PyTorch + Opacus + pandas / sklearn / scipy.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211312" y="3127248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versioned saving with integrity checks.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B7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SETUP AND PREPARATION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96112"/>
            <a:ext cx="8778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 Environment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9966960" y="50292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E7F7F0"/>
          </a:solidFill>
          <a:ln w="9525">
            <a:solidFill>
              <a:srgbClr val="1F9D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94976" y="612648"/>
            <a:ext cx="91440" cy="91440"/>
          </a:xfrm>
          <a:prstGeom prst="ellipse">
            <a:avLst/>
          </a:prstGeom>
          <a:solidFill>
            <a:srgbClr val="1F9D6B"/>
          </a:solidFill>
          <a:ln/>
        </p:spPr>
      </p:sp>
      <p:sp>
        <p:nvSpPr>
          <p:cNvPr id="7" name="Text 5"/>
          <p:cNvSpPr/>
          <p:nvPr/>
        </p:nvSpPr>
        <p:spPr>
          <a:xfrm>
            <a:off x="10241280" y="502920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9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481328"/>
            <a:ext cx="10908792" cy="0"/>
          </a:xfrm>
          <a:prstGeom prst="line">
            <a:avLst/>
          </a:prstGeom>
          <a:noFill/>
          <a:ln w="12700">
            <a:solidFill>
              <a:srgbClr val="DCE4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783080"/>
            <a:ext cx="384048" cy="384048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783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092" dirty="0"/>
          </a:p>
        </p:txBody>
      </p:sp>
      <p:sp>
        <p:nvSpPr>
          <p:cNvPr id="11" name="Text 9"/>
          <p:cNvSpPr/>
          <p:nvPr/>
        </p:nvSpPr>
        <p:spPr>
          <a:xfrm>
            <a:off x="1152144" y="1783080"/>
            <a:ext cx="3008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the Runtime Baseline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58368" y="2350008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Python is modern enough and core libraries import cleanly.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58368" y="3127248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Pydantic V2 behavior so config schemas load reliably.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416552" y="1783080"/>
            <a:ext cx="384048" cy="384048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15" name="Text 13"/>
          <p:cNvSpPr/>
          <p:nvPr/>
        </p:nvSpPr>
        <p:spPr>
          <a:xfrm>
            <a:off x="4416552" y="1783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092" dirty="0"/>
          </a:p>
        </p:txBody>
      </p:sp>
      <p:sp>
        <p:nvSpPr>
          <p:cNvPr id="16" name="Text 14"/>
          <p:cNvSpPr/>
          <p:nvPr/>
        </p:nvSpPr>
        <p:spPr>
          <a:xfrm>
            <a:off x="4928616" y="1783080"/>
            <a:ext cx="3008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GPU Readiness &amp; DP Viability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434840" y="2350008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CUDA availability and read VRAM to avoid surprise OOMs.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434840" y="3127248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one-step Opacus DP-SGD smoke test end to end.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434840" y="3904488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fast if privacy accounting is broken or epsilon stays zero.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193024" y="1783080"/>
            <a:ext cx="384048" cy="384048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21" name="Text 19"/>
          <p:cNvSpPr/>
          <p:nvPr/>
        </p:nvSpPr>
        <p:spPr>
          <a:xfrm>
            <a:off x="8193024" y="1783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92" dirty="0"/>
          </a:p>
        </p:txBody>
      </p:sp>
      <p:sp>
        <p:nvSpPr>
          <p:cNvPr id="22" name="Text 20"/>
          <p:cNvSpPr/>
          <p:nvPr/>
        </p:nvSpPr>
        <p:spPr>
          <a:xfrm>
            <a:off x="8705088" y="1783080"/>
            <a:ext cx="3008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Expensive Run Failures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211312" y="2350008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machine-readable setup report before Kaggle training.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211312" y="3127248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environment issues before they cost GPU-hours.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B7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SETUP AND PREPARATION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96112"/>
            <a:ext cx="8778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Profile and Prepare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9966960" y="50292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E7F7F0"/>
          </a:solidFill>
          <a:ln w="9525">
            <a:solidFill>
              <a:srgbClr val="1F9D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94976" y="612648"/>
            <a:ext cx="91440" cy="91440"/>
          </a:xfrm>
          <a:prstGeom prst="ellipse">
            <a:avLst/>
          </a:prstGeom>
          <a:solidFill>
            <a:srgbClr val="1F9D6B"/>
          </a:solidFill>
          <a:ln/>
        </p:spPr>
      </p:sp>
      <p:sp>
        <p:nvSpPr>
          <p:cNvPr id="7" name="Text 5"/>
          <p:cNvSpPr/>
          <p:nvPr/>
        </p:nvSpPr>
        <p:spPr>
          <a:xfrm>
            <a:off x="10241280" y="502920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9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481328"/>
            <a:ext cx="10908792" cy="0"/>
          </a:xfrm>
          <a:prstGeom prst="line">
            <a:avLst/>
          </a:prstGeom>
          <a:noFill/>
          <a:ln w="12700">
            <a:solidFill>
              <a:srgbClr val="DCE4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783080"/>
            <a:ext cx="384048" cy="384048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783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092" dirty="0"/>
          </a:p>
        </p:txBody>
      </p:sp>
      <p:sp>
        <p:nvSpPr>
          <p:cNvPr id="11" name="Text 9"/>
          <p:cNvSpPr/>
          <p:nvPr/>
        </p:nvSpPr>
        <p:spPr>
          <a:xfrm>
            <a:off x="1152144" y="1783080"/>
            <a:ext cx="48828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the Raw Table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" y="2377440"/>
            <a:ext cx="5349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 column roles (continuous, categorical, binary) from statistics.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8368" y="2889504"/>
            <a:ext cx="5349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high-cardinality / near-identifier and HIPAA-style fields.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3401568"/>
            <a:ext cx="5349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missingness to preserve clinically meaningful signals.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537960" y="1783080"/>
            <a:ext cx="384048" cy="384048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16" name="Text 14"/>
          <p:cNvSpPr/>
          <p:nvPr/>
        </p:nvSpPr>
        <p:spPr>
          <a:xfrm>
            <a:off x="6537960" y="1783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092" dirty="0"/>
          </a:p>
        </p:txBody>
      </p:sp>
      <p:sp>
        <p:nvSpPr>
          <p:cNvPr id="17" name="Text 15"/>
          <p:cNvSpPr/>
          <p:nvPr/>
        </p:nvSpPr>
        <p:spPr>
          <a:xfrm>
            <a:off x="7050024" y="1783080"/>
            <a:ext cx="48828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 With Reversibility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56248" y="2377440"/>
            <a:ext cx="5349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high-missingness, constant, HIPAA, and near-identifier columns.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56248" y="2889504"/>
            <a:ext cx="5349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missingness indicators; impute with median or mode.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56248" y="3401568"/>
            <a:ext cx="5349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categoricals with reserved null / other tokens.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56248" y="3913632"/>
            <a:ext cx="5349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a normalized tensor with exact round-trip decoding.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320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931920"/>
            <a:ext cx="5486400" cy="54864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33172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2A3C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2834640" y="283464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Training &amp; Privacy Integration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2880360" y="2788920"/>
            <a:ext cx="0" cy="1051560"/>
          </a:xfrm>
          <a:prstGeom prst="line">
            <a:avLst/>
          </a:prstGeom>
          <a:noFill/>
          <a:ln w="38100">
            <a:solidFill>
              <a:srgbClr val="0FA3A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B7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 AND PRIVACY INTEGRATION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96112"/>
            <a:ext cx="8778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Baseline Generator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9966960" y="50292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E7F7F0"/>
          </a:solidFill>
          <a:ln w="9525">
            <a:solidFill>
              <a:srgbClr val="1F9D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94976" y="612648"/>
            <a:ext cx="91440" cy="91440"/>
          </a:xfrm>
          <a:prstGeom prst="ellipse">
            <a:avLst/>
          </a:prstGeom>
          <a:solidFill>
            <a:srgbClr val="1F9D6B"/>
          </a:solidFill>
          <a:ln/>
        </p:spPr>
      </p:sp>
      <p:sp>
        <p:nvSpPr>
          <p:cNvPr id="7" name="Text 5"/>
          <p:cNvSpPr/>
          <p:nvPr/>
        </p:nvSpPr>
        <p:spPr>
          <a:xfrm>
            <a:off x="10241280" y="502920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9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481328"/>
            <a:ext cx="10908792" cy="0"/>
          </a:xfrm>
          <a:prstGeom prst="line">
            <a:avLst/>
          </a:prstGeom>
          <a:noFill/>
          <a:ln w="12700">
            <a:solidFill>
              <a:srgbClr val="DCE4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783080"/>
            <a:ext cx="384048" cy="384048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783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092" dirty="0"/>
          </a:p>
        </p:txBody>
      </p:sp>
      <p:sp>
        <p:nvSpPr>
          <p:cNvPr id="11" name="Text 9"/>
          <p:cNvSpPr/>
          <p:nvPr/>
        </p:nvSpPr>
        <p:spPr>
          <a:xfrm>
            <a:off x="1152144" y="1783080"/>
            <a:ext cx="3008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 of the Baseline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58368" y="2350008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non-DP DDPM first to validate generation quality.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58368" y="3127248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a clear reference before adding privacy noise.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416552" y="1783080"/>
            <a:ext cx="384048" cy="384048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15" name="Text 13"/>
          <p:cNvSpPr/>
          <p:nvPr/>
        </p:nvSpPr>
        <p:spPr>
          <a:xfrm>
            <a:off x="4416552" y="1783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092" dirty="0"/>
          </a:p>
        </p:txBody>
      </p:sp>
      <p:sp>
        <p:nvSpPr>
          <p:cNvPr id="16" name="Text 14"/>
          <p:cNvSpPr/>
          <p:nvPr/>
        </p:nvSpPr>
        <p:spPr>
          <a:xfrm>
            <a:off x="4928616" y="1783080"/>
            <a:ext cx="3008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Model Learns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434840" y="2350008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MLP denoiser predicts and removes Gaussian noise step-by-step.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434840" y="3127248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samples random timesteps across a 1000-step schedule.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93024" y="1783080"/>
            <a:ext cx="384048" cy="384048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20" name="Text 18"/>
          <p:cNvSpPr/>
          <p:nvPr/>
        </p:nvSpPr>
        <p:spPr>
          <a:xfrm>
            <a:off x="8193024" y="1783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92" dirty="0"/>
          </a:p>
        </p:txBody>
      </p:sp>
      <p:sp>
        <p:nvSpPr>
          <p:cNvPr id="21" name="Text 19"/>
          <p:cNvSpPr/>
          <p:nvPr/>
        </p:nvSpPr>
        <p:spPr>
          <a:xfrm>
            <a:off x="8705088" y="1783080"/>
            <a:ext cx="3008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 Later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8211312" y="2350008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utility reveals what DP-SGD changes in convergence and realism.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211312" y="3127248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a stable checkpoint for privacy-utility comparisons.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B7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 AND PRIVACY INTEGRATION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96112"/>
            <a:ext cx="8778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Differential Privacy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9966960" y="50292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E7F7F0"/>
          </a:solidFill>
          <a:ln w="9525">
            <a:solidFill>
              <a:srgbClr val="1F9D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94976" y="612648"/>
            <a:ext cx="91440" cy="91440"/>
          </a:xfrm>
          <a:prstGeom prst="ellipse">
            <a:avLst/>
          </a:prstGeom>
          <a:solidFill>
            <a:srgbClr val="1F9D6B"/>
          </a:solidFill>
          <a:ln/>
        </p:spPr>
      </p:sp>
      <p:sp>
        <p:nvSpPr>
          <p:cNvPr id="7" name="Text 5"/>
          <p:cNvSpPr/>
          <p:nvPr/>
        </p:nvSpPr>
        <p:spPr>
          <a:xfrm>
            <a:off x="10241280" y="502920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9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481328"/>
            <a:ext cx="10908792" cy="0"/>
          </a:xfrm>
          <a:prstGeom prst="line">
            <a:avLst/>
          </a:prstGeom>
          <a:noFill/>
          <a:ln w="12700">
            <a:solidFill>
              <a:srgbClr val="DCE4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783080"/>
            <a:ext cx="384048" cy="384048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783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092" dirty="0"/>
          </a:p>
        </p:txBody>
      </p:sp>
      <p:sp>
        <p:nvSpPr>
          <p:cNvPr id="11" name="Text 9"/>
          <p:cNvSpPr/>
          <p:nvPr/>
        </p:nvSpPr>
        <p:spPr>
          <a:xfrm>
            <a:off x="1152144" y="1783080"/>
            <a:ext cx="48828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DP-SGD Makes Training Privacy-Safe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" y="2377440"/>
            <a:ext cx="5349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each record's gradient so no single patient dominates updates.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8368" y="2889504"/>
            <a:ext cx="5349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calibrated Gaussian noise to clipped gradients each step.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537960" y="1783080"/>
            <a:ext cx="384048" cy="384048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15" name="Text 13"/>
          <p:cNvSpPr/>
          <p:nvPr/>
        </p:nvSpPr>
        <p:spPr>
          <a:xfrm>
            <a:off x="6537960" y="1783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092" dirty="0"/>
          </a:p>
        </p:txBody>
      </p:sp>
      <p:sp>
        <p:nvSpPr>
          <p:cNvPr id="16" name="Text 14"/>
          <p:cNvSpPr/>
          <p:nvPr/>
        </p:nvSpPr>
        <p:spPr>
          <a:xfrm>
            <a:off x="7050024" y="1783080"/>
            <a:ext cx="48828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Accounting Proves the Guarantee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556248" y="2377440"/>
            <a:ext cx="5349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central RDP accountant tracks cumulative privacy loss.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56248" y="2889504"/>
            <a:ext cx="5349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stops or adjusts when target (ε, δ) is reached.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B7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 AND PRIVACY INTEGRATION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Tiers Make Privacy Smarter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9966960" y="50292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E7F7F0"/>
          </a:solidFill>
          <a:ln w="9525">
            <a:solidFill>
              <a:srgbClr val="1F9D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94976" y="612648"/>
            <a:ext cx="91440" cy="91440"/>
          </a:xfrm>
          <a:prstGeom prst="ellipse">
            <a:avLst/>
          </a:prstGeom>
          <a:solidFill>
            <a:srgbClr val="1F9D6B"/>
          </a:solidFill>
          <a:ln/>
        </p:spPr>
      </p:sp>
      <p:sp>
        <p:nvSpPr>
          <p:cNvPr id="6" name="Text 4"/>
          <p:cNvSpPr/>
          <p:nvPr/>
        </p:nvSpPr>
        <p:spPr>
          <a:xfrm>
            <a:off x="10241280" y="502920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9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481328"/>
            <a:ext cx="10908792" cy="0"/>
          </a:xfrm>
          <a:prstGeom prst="line">
            <a:avLst/>
          </a:prstGeom>
          <a:noFill/>
          <a:ln w="12700">
            <a:solidFill>
              <a:srgbClr val="DCE4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783080"/>
            <a:ext cx="3465576" cy="1051560"/>
          </a:xfrm>
          <a:prstGeom prst="roundRect">
            <a:avLst>
              <a:gd name="adj" fmla="val 6957"/>
            </a:avLst>
          </a:prstGeom>
          <a:solidFill>
            <a:srgbClr val="FBFCFD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1A2233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41248" y="2011680"/>
            <a:ext cx="594360" cy="594360"/>
          </a:xfrm>
          <a:prstGeom prst="roundRect">
            <a:avLst>
              <a:gd name="adj" fmla="val 15385"/>
            </a:avLst>
          </a:prstGeom>
          <a:solidFill>
            <a:srgbClr val="990011"/>
          </a:solidFill>
          <a:ln/>
        </p:spPr>
      </p:sp>
      <p:sp>
        <p:nvSpPr>
          <p:cNvPr id="10" name="Text 8"/>
          <p:cNvSpPr/>
          <p:nvPr/>
        </p:nvSpPr>
        <p:spPr>
          <a:xfrm>
            <a:off x="1600200" y="1783080"/>
            <a:ext cx="236829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361688" y="1783080"/>
            <a:ext cx="3465576" cy="1051560"/>
          </a:xfrm>
          <a:prstGeom prst="roundRect">
            <a:avLst>
              <a:gd name="adj" fmla="val 6957"/>
            </a:avLst>
          </a:prstGeom>
          <a:solidFill>
            <a:srgbClr val="FBFCFD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1A2233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62856" y="2011680"/>
            <a:ext cx="594360" cy="594360"/>
          </a:xfrm>
          <a:prstGeom prst="roundRect">
            <a:avLst>
              <a:gd name="adj" fmla="val 15385"/>
            </a:avLst>
          </a:prstGeom>
          <a:solidFill>
            <a:srgbClr val="B85042"/>
          </a:solidFill>
          <a:ln/>
        </p:spPr>
      </p:sp>
      <p:sp>
        <p:nvSpPr>
          <p:cNvPr id="13" name="Text 11"/>
          <p:cNvSpPr/>
          <p:nvPr/>
        </p:nvSpPr>
        <p:spPr>
          <a:xfrm>
            <a:off x="5321808" y="1783080"/>
            <a:ext cx="236829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083296" y="1783080"/>
            <a:ext cx="3465576" cy="1051560"/>
          </a:xfrm>
          <a:prstGeom prst="roundRect">
            <a:avLst>
              <a:gd name="adj" fmla="val 6957"/>
            </a:avLst>
          </a:prstGeom>
          <a:solidFill>
            <a:srgbClr val="FBFCFD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1A2233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84464" y="2011680"/>
            <a:ext cx="594360" cy="594360"/>
          </a:xfrm>
          <a:prstGeom prst="roundRect">
            <a:avLst>
              <a:gd name="adj" fmla="val 15385"/>
            </a:avLst>
          </a:prstGeom>
          <a:solidFill>
            <a:srgbClr val="0FA3A3"/>
          </a:solidFill>
          <a:ln/>
        </p:spPr>
      </p:sp>
      <p:sp>
        <p:nvSpPr>
          <p:cNvPr id="16" name="Text 14"/>
          <p:cNvSpPr/>
          <p:nvPr/>
        </p:nvSpPr>
        <p:spPr>
          <a:xfrm>
            <a:off x="9043416" y="1783080"/>
            <a:ext cx="236829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Loose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0080" y="3200400"/>
            <a:ext cx="384048" cy="384048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2004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092" dirty="0"/>
          </a:p>
        </p:txBody>
      </p:sp>
      <p:sp>
        <p:nvSpPr>
          <p:cNvPr id="19" name="Text 17"/>
          <p:cNvSpPr/>
          <p:nvPr/>
        </p:nvSpPr>
        <p:spPr>
          <a:xfrm>
            <a:off x="1152144" y="3200400"/>
            <a:ext cx="48828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Tiers Are Assigned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8368" y="3794760"/>
            <a:ext cx="5349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signals: cardinality and uniqueness in the dataset.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8368" y="4306824"/>
            <a:ext cx="5349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 Safe Harbor name matching escalates obvious identifiers.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58368" y="4818888"/>
            <a:ext cx="5349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correlation guard promotes linked features to stricter tiers.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537960" y="3200400"/>
            <a:ext cx="384048" cy="384048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24" name="Text 22"/>
          <p:cNvSpPr/>
          <p:nvPr/>
        </p:nvSpPr>
        <p:spPr>
          <a:xfrm>
            <a:off x="6537960" y="32004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092" dirty="0"/>
          </a:p>
        </p:txBody>
      </p:sp>
      <p:sp>
        <p:nvSpPr>
          <p:cNvPr id="25" name="Text 23"/>
          <p:cNvSpPr/>
          <p:nvPr/>
        </p:nvSpPr>
        <p:spPr>
          <a:xfrm>
            <a:off x="7050024" y="3200400"/>
            <a:ext cx="48828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Improves Outcomes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556248" y="3794760"/>
            <a:ext cx="5349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fields get stronger protection, reducing leakage risk.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556248" y="4306824"/>
            <a:ext cx="5349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Low-risk fields get less noise, preserving overall realism.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B7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 AND PRIVACY INTEGRATION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Fix That Changed Everything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9966960" y="50292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E7F7F0"/>
          </a:solidFill>
          <a:ln w="9525">
            <a:solidFill>
              <a:srgbClr val="1F9D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94976" y="612648"/>
            <a:ext cx="91440" cy="91440"/>
          </a:xfrm>
          <a:prstGeom prst="ellipse">
            <a:avLst/>
          </a:prstGeom>
          <a:solidFill>
            <a:srgbClr val="1F9D6B"/>
          </a:solidFill>
          <a:ln/>
        </p:spPr>
      </p:sp>
      <p:sp>
        <p:nvSpPr>
          <p:cNvPr id="6" name="Text 4"/>
          <p:cNvSpPr/>
          <p:nvPr/>
        </p:nvSpPr>
        <p:spPr>
          <a:xfrm>
            <a:off x="10241280" y="502920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9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481328"/>
            <a:ext cx="10908792" cy="0"/>
          </a:xfrm>
          <a:prstGeom prst="line">
            <a:avLst/>
          </a:prstGeom>
          <a:noFill/>
          <a:ln w="12700">
            <a:solidFill>
              <a:srgbClr val="DCE4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783080"/>
            <a:ext cx="3465576" cy="3931920"/>
          </a:xfrm>
          <a:prstGeom prst="roundRect">
            <a:avLst>
              <a:gd name="adj" fmla="val 2111"/>
            </a:avLst>
          </a:prstGeom>
          <a:solidFill>
            <a:srgbClr val="FBFCFD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1A2233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8680" y="2011680"/>
            <a:ext cx="411480" cy="411480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0116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70" dirty="0"/>
          </a:p>
        </p:txBody>
      </p:sp>
      <p:sp>
        <p:nvSpPr>
          <p:cNvPr id="11" name="Text 9"/>
          <p:cNvSpPr/>
          <p:nvPr/>
        </p:nvSpPr>
        <p:spPr>
          <a:xfrm>
            <a:off x="868680" y="2560320"/>
            <a:ext cx="30083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Audit Uncovered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68680" y="3108960"/>
            <a:ext cx="3008376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 clipping/noise applied to the wrong parameter set.</a:t>
            </a:r>
            <a:endParaRPr lang="en-US" sz="10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Opacus wrapping created a new module copy — original params untracked.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361688" y="1783080"/>
            <a:ext cx="3465576" cy="3931920"/>
          </a:xfrm>
          <a:prstGeom prst="roundRect">
            <a:avLst>
              <a:gd name="adj" fmla="val 2111"/>
            </a:avLst>
          </a:prstGeom>
          <a:solidFill>
            <a:srgbClr val="FBFCFD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1A2233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90288" y="2011680"/>
            <a:ext cx="411480" cy="411480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15" name="Text 13"/>
          <p:cNvSpPr/>
          <p:nvPr/>
        </p:nvSpPr>
        <p:spPr>
          <a:xfrm>
            <a:off x="4590288" y="20116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70" dirty="0"/>
          </a:p>
        </p:txBody>
      </p:sp>
      <p:sp>
        <p:nvSpPr>
          <p:cNvPr id="16" name="Text 14"/>
          <p:cNvSpPr/>
          <p:nvPr/>
        </p:nvSpPr>
        <p:spPr>
          <a:xfrm>
            <a:off x="4590288" y="2560320"/>
            <a:ext cx="30083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Was Serious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90288" y="3108960"/>
            <a:ext cx="3008376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 never received per-sample gradients, so clipping never occurred.</a:t>
            </a:r>
            <a:endParaRPr lang="en-US" sz="10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injection silently no-oped; accountant recorded nothing.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083296" y="1783080"/>
            <a:ext cx="3465576" cy="3931920"/>
          </a:xfrm>
          <a:prstGeom prst="roundRect">
            <a:avLst>
              <a:gd name="adj" fmla="val 2111"/>
            </a:avLst>
          </a:prstGeom>
          <a:solidFill>
            <a:srgbClr val="E7F7F0"/>
          </a:solidFill>
          <a:ln w="12700">
            <a:solidFill>
              <a:srgbClr val="1F9D6B"/>
            </a:solidFill>
            <a:prstDash val="solid"/>
          </a:ln>
          <a:effectLst>
            <a:outerShdw sx="100000" sy="100000" kx="0" ky="0" algn="bl" rotWithShape="0" blurRad="101600" dist="38100" dir="5400000">
              <a:srgbClr val="1A2233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311896" y="2011680"/>
            <a:ext cx="411480" cy="411480"/>
          </a:xfrm>
          <a:prstGeom prst="ellipse">
            <a:avLst/>
          </a:prstGeom>
          <a:solidFill>
            <a:srgbClr val="1F9D6B"/>
          </a:solidFill>
          <a:ln/>
        </p:spPr>
      </p:sp>
      <p:sp>
        <p:nvSpPr>
          <p:cNvPr id="20" name="Text 18"/>
          <p:cNvSpPr/>
          <p:nvPr/>
        </p:nvSpPr>
        <p:spPr>
          <a:xfrm>
            <a:off x="8311896" y="20116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70" dirty="0"/>
          </a:p>
        </p:txBody>
      </p:sp>
      <p:sp>
        <p:nvSpPr>
          <p:cNvPr id="21" name="Text 19"/>
          <p:cNvSpPr/>
          <p:nvPr/>
        </p:nvSpPr>
        <p:spPr>
          <a:xfrm>
            <a:off x="8311896" y="2560320"/>
            <a:ext cx="30083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 &amp; Outcome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311896" y="3108960"/>
            <a:ext cx="3008376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parameters remapped to the GradSampleModule-wrapped model.</a:t>
            </a:r>
            <a:endParaRPr lang="en-US" sz="10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Restored real clipping, real noise, and trustworthy privacy accounting.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320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931920"/>
            <a:ext cx="5486400" cy="54864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33172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2A3C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2834640" y="283464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Privacy Budgeting &amp; Data Generation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2880360" y="2788920"/>
            <a:ext cx="0" cy="1051560"/>
          </a:xfrm>
          <a:prstGeom prst="line">
            <a:avLst/>
          </a:prstGeom>
          <a:noFill/>
          <a:ln w="38100">
            <a:solidFill>
              <a:srgbClr val="0FA3A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B7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BUDGETING AND DATA GENERATION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96112"/>
            <a:ext cx="8778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Sweep Privacy Budgets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9966960" y="50292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E7F7F0"/>
          </a:solidFill>
          <a:ln w="9525">
            <a:solidFill>
              <a:srgbClr val="1F9D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94976" y="612648"/>
            <a:ext cx="91440" cy="91440"/>
          </a:xfrm>
          <a:prstGeom prst="ellipse">
            <a:avLst/>
          </a:prstGeom>
          <a:solidFill>
            <a:srgbClr val="1F9D6B"/>
          </a:solidFill>
          <a:ln/>
        </p:spPr>
      </p:sp>
      <p:sp>
        <p:nvSpPr>
          <p:cNvPr id="7" name="Text 5"/>
          <p:cNvSpPr/>
          <p:nvPr/>
        </p:nvSpPr>
        <p:spPr>
          <a:xfrm>
            <a:off x="10241280" y="502920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9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481328"/>
            <a:ext cx="10908792" cy="0"/>
          </a:xfrm>
          <a:prstGeom prst="line">
            <a:avLst/>
          </a:prstGeom>
          <a:noFill/>
          <a:ln w="12700">
            <a:solidFill>
              <a:srgbClr val="DCE4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783080"/>
            <a:ext cx="384048" cy="384048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783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092" dirty="0"/>
          </a:p>
        </p:txBody>
      </p:sp>
      <p:sp>
        <p:nvSpPr>
          <p:cNvPr id="11" name="Text 9"/>
          <p:cNvSpPr/>
          <p:nvPr/>
        </p:nvSpPr>
        <p:spPr>
          <a:xfrm>
            <a:off x="1152144" y="1783080"/>
            <a:ext cx="3008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Epsilon Sweep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58368" y="2350008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separate models at epsilon 0.1, 1.0, and 10.0.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58368" y="3127248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architecture fixed so privacy is the only major change.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416552" y="1783080"/>
            <a:ext cx="384048" cy="384048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15" name="Text 13"/>
          <p:cNvSpPr/>
          <p:nvPr/>
        </p:nvSpPr>
        <p:spPr>
          <a:xfrm>
            <a:off x="4416552" y="1783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092" dirty="0"/>
          </a:p>
        </p:txBody>
      </p:sp>
      <p:sp>
        <p:nvSpPr>
          <p:cNvPr id="16" name="Text 14"/>
          <p:cNvSpPr/>
          <p:nvPr/>
        </p:nvSpPr>
        <p:spPr>
          <a:xfrm>
            <a:off x="4928616" y="1783080"/>
            <a:ext cx="3008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the Tradeoff Curve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434840" y="2350008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epsilon: stronger privacy, more training noise.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434840" y="3127248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epsilon: less noise, improved statistical fidelity.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93024" y="1783080"/>
            <a:ext cx="384048" cy="384048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20" name="Text 18"/>
          <p:cNvSpPr/>
          <p:nvPr/>
        </p:nvSpPr>
        <p:spPr>
          <a:xfrm>
            <a:off x="8193024" y="1783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92" dirty="0"/>
          </a:p>
        </p:txBody>
      </p:sp>
      <p:sp>
        <p:nvSpPr>
          <p:cNvPr id="21" name="Text 19"/>
          <p:cNvSpPr/>
          <p:nvPr/>
        </p:nvSpPr>
        <p:spPr>
          <a:xfrm>
            <a:off x="8705088" y="1783080"/>
            <a:ext cx="3008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Within Compute Limits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8211312" y="2350008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ComputeBudgetGuard enforces a 30 GPU-hours/week ceiling.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211312" y="3127248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Elapsed time is persisted so restarts don't break tracking.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B7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BUDGETING AND DATA GENERATION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96112"/>
            <a:ext cx="8778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 and Generate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9966960" y="50292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E7F7F0"/>
          </a:solidFill>
          <a:ln w="9525">
            <a:solidFill>
              <a:srgbClr val="1F9D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94976" y="612648"/>
            <a:ext cx="91440" cy="91440"/>
          </a:xfrm>
          <a:prstGeom prst="ellipse">
            <a:avLst/>
          </a:prstGeom>
          <a:solidFill>
            <a:srgbClr val="1F9D6B"/>
          </a:solidFill>
          <a:ln/>
        </p:spPr>
      </p:sp>
      <p:sp>
        <p:nvSpPr>
          <p:cNvPr id="7" name="Text 5"/>
          <p:cNvSpPr/>
          <p:nvPr/>
        </p:nvSpPr>
        <p:spPr>
          <a:xfrm>
            <a:off x="10241280" y="502920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9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481328"/>
            <a:ext cx="10908792" cy="0"/>
          </a:xfrm>
          <a:prstGeom prst="line">
            <a:avLst/>
          </a:prstGeom>
          <a:noFill/>
          <a:ln w="12700">
            <a:solidFill>
              <a:srgbClr val="DCE4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783080"/>
            <a:ext cx="384048" cy="384048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783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092" dirty="0"/>
          </a:p>
        </p:txBody>
      </p:sp>
      <p:sp>
        <p:nvSpPr>
          <p:cNvPr id="11" name="Text 9"/>
          <p:cNvSpPr/>
          <p:nvPr/>
        </p:nvSpPr>
        <p:spPr>
          <a:xfrm>
            <a:off x="1152144" y="1783080"/>
            <a:ext cx="48828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End-to-End Pipeline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" y="2377440"/>
            <a:ext cx="5349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raw dataset, profile and preprocess into a model-ready tensor.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8368" y="2889504"/>
            <a:ext cx="5349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per-feature privacy risk tiers before DP-protected training.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537960" y="1783080"/>
            <a:ext cx="384048" cy="384048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15" name="Text 13"/>
          <p:cNvSpPr/>
          <p:nvPr/>
        </p:nvSpPr>
        <p:spPr>
          <a:xfrm>
            <a:off x="6537960" y="1783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092" dirty="0"/>
          </a:p>
        </p:txBody>
      </p:sp>
      <p:sp>
        <p:nvSpPr>
          <p:cNvPr id="16" name="Text 14"/>
          <p:cNvSpPr/>
          <p:nvPr/>
        </p:nvSpPr>
        <p:spPr>
          <a:xfrm>
            <a:off x="7050024" y="1783080"/>
            <a:ext cx="48828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&amp; Generate With Privacy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556248" y="2377440"/>
            <a:ext cx="5349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the denoiser with DP-SGD while tracking privacy spend centrally.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56248" y="2889504"/>
            <a:ext cx="5349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checkpoints for reproducible training and later generation.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56248" y="3401568"/>
            <a:ext cx="5349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from Gaussian noise, reverse-diffuse, and decode to a CSV table.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320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931920"/>
            <a:ext cx="5486400" cy="54864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33172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2A3C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2834640" y="283464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&amp; Delivery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2880360" y="2788920"/>
            <a:ext cx="0" cy="1051560"/>
          </a:xfrm>
          <a:prstGeom prst="line">
            <a:avLst/>
          </a:prstGeom>
          <a:noFill/>
          <a:ln w="38100">
            <a:solidFill>
              <a:srgbClr val="0FA3A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B7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AND DELIVERY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96112"/>
            <a:ext cx="8778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Evaluate Utility and Privacy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9966960" y="50292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E7F7F0"/>
          </a:solidFill>
          <a:ln w="9525">
            <a:solidFill>
              <a:srgbClr val="1F9D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94976" y="612648"/>
            <a:ext cx="91440" cy="91440"/>
          </a:xfrm>
          <a:prstGeom prst="ellipse">
            <a:avLst/>
          </a:prstGeom>
          <a:solidFill>
            <a:srgbClr val="1F9D6B"/>
          </a:solidFill>
          <a:ln/>
        </p:spPr>
      </p:sp>
      <p:sp>
        <p:nvSpPr>
          <p:cNvPr id="7" name="Text 5"/>
          <p:cNvSpPr/>
          <p:nvPr/>
        </p:nvSpPr>
        <p:spPr>
          <a:xfrm>
            <a:off x="10241280" y="502920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9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481328"/>
            <a:ext cx="10908792" cy="0"/>
          </a:xfrm>
          <a:prstGeom prst="line">
            <a:avLst/>
          </a:prstGeom>
          <a:noFill/>
          <a:ln w="12700">
            <a:solidFill>
              <a:srgbClr val="DCE4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783080"/>
            <a:ext cx="384048" cy="384048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783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092" dirty="0"/>
          </a:p>
        </p:txBody>
      </p:sp>
      <p:sp>
        <p:nvSpPr>
          <p:cNvPr id="11" name="Text 9"/>
          <p:cNvSpPr/>
          <p:nvPr/>
        </p:nvSpPr>
        <p:spPr>
          <a:xfrm>
            <a:off x="1152144" y="1783080"/>
            <a:ext cx="3008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Utility: Statistical Similarity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58368" y="2350008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KS tests for continuous fields and TVD for categoricals.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58368" y="3127248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real vs. synthetic correlation matrices using RMSE.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416552" y="1783080"/>
            <a:ext cx="384048" cy="384048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15" name="Text 13"/>
          <p:cNvSpPr/>
          <p:nvPr/>
        </p:nvSpPr>
        <p:spPr>
          <a:xfrm>
            <a:off x="4416552" y="1783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092" dirty="0"/>
          </a:p>
        </p:txBody>
      </p:sp>
      <p:sp>
        <p:nvSpPr>
          <p:cNvPr id="16" name="Text 14"/>
          <p:cNvSpPr/>
          <p:nvPr/>
        </p:nvSpPr>
        <p:spPr>
          <a:xfrm>
            <a:off x="4928616" y="1783080"/>
            <a:ext cx="3008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Privacy: Distance-Based MIA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434840" y="2350008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nearest-synthetic distances for train and holdout records.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434840" y="3127248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 leakage with a bounded D-MIA risk score in [0,1].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93024" y="1783080"/>
            <a:ext cx="384048" cy="384048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20" name="Text 18"/>
          <p:cNvSpPr/>
          <p:nvPr/>
        </p:nvSpPr>
        <p:spPr>
          <a:xfrm>
            <a:off x="8193024" y="1783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92" dirty="0"/>
          </a:p>
        </p:txBody>
      </p:sp>
      <p:sp>
        <p:nvSpPr>
          <p:cNvPr id="21" name="Text 19"/>
          <p:cNvSpPr/>
          <p:nvPr/>
        </p:nvSpPr>
        <p:spPr>
          <a:xfrm>
            <a:off x="8705088" y="1783080"/>
            <a:ext cx="3008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Release Readiness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8211312" y="2350008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when similarity stays high while MIA risk stays low.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211312" y="3127248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results to select the best epsilon on the tradeoff curve.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B7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AND DELIVERY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9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96112"/>
            <a:ext cx="8778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 Team the Output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9966960" y="50292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E7F7F0"/>
          </a:solidFill>
          <a:ln w="9525">
            <a:solidFill>
              <a:srgbClr val="1F9D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94976" y="612648"/>
            <a:ext cx="91440" cy="91440"/>
          </a:xfrm>
          <a:prstGeom prst="ellipse">
            <a:avLst/>
          </a:prstGeom>
          <a:solidFill>
            <a:srgbClr val="1F9D6B"/>
          </a:solidFill>
          <a:ln/>
        </p:spPr>
      </p:sp>
      <p:sp>
        <p:nvSpPr>
          <p:cNvPr id="7" name="Text 5"/>
          <p:cNvSpPr/>
          <p:nvPr/>
        </p:nvSpPr>
        <p:spPr>
          <a:xfrm>
            <a:off x="10241280" y="502920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9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481328"/>
            <a:ext cx="10908792" cy="0"/>
          </a:xfrm>
          <a:prstGeom prst="line">
            <a:avLst/>
          </a:prstGeom>
          <a:noFill/>
          <a:ln w="12700">
            <a:solidFill>
              <a:srgbClr val="DCE4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783080"/>
            <a:ext cx="384048" cy="384048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783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092" dirty="0"/>
          </a:p>
        </p:txBody>
      </p:sp>
      <p:sp>
        <p:nvSpPr>
          <p:cNvPr id="11" name="Text 9"/>
          <p:cNvSpPr/>
          <p:nvPr/>
        </p:nvSpPr>
        <p:spPr>
          <a:xfrm>
            <a:off x="1152144" y="1783080"/>
            <a:ext cx="3008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Release Gate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58368" y="2350008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the synthetic table as attacker-visible, not a trusted artifact.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58368" y="3127248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automated checks and label the output PASS / FAIL before sharing.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416552" y="1783080"/>
            <a:ext cx="384048" cy="384048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15" name="Text 13"/>
          <p:cNvSpPr/>
          <p:nvPr/>
        </p:nvSpPr>
        <p:spPr>
          <a:xfrm>
            <a:off x="4416552" y="1783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092" dirty="0"/>
          </a:p>
        </p:txBody>
      </p:sp>
      <p:sp>
        <p:nvSpPr>
          <p:cNvPr id="16" name="Text 14"/>
          <p:cNvSpPr/>
          <p:nvPr/>
        </p:nvSpPr>
        <p:spPr>
          <a:xfrm>
            <a:off x="4928616" y="1783080"/>
            <a:ext cx="3008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Checks That Must Pass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434840" y="2350008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no HIPAA identifier columns survived profiling / preprocessing.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434840" y="3127248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zero exact row matches between real and synthetic records.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434840" y="3904488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Re-test membership exposure using the same distance-based MIA.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193024" y="1783080"/>
            <a:ext cx="384048" cy="384048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21" name="Text 19"/>
          <p:cNvSpPr/>
          <p:nvPr/>
        </p:nvSpPr>
        <p:spPr>
          <a:xfrm>
            <a:off x="8193024" y="1783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92" dirty="0"/>
          </a:p>
        </p:txBody>
      </p:sp>
      <p:sp>
        <p:nvSpPr>
          <p:cNvPr id="22" name="Text 20"/>
          <p:cNvSpPr/>
          <p:nvPr/>
        </p:nvSpPr>
        <p:spPr>
          <a:xfrm>
            <a:off x="8705088" y="1783080"/>
            <a:ext cx="3008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&amp; Evidence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211312" y="2350008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release if any check fails; regenerate or retrain as needed.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211312" y="3127248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results to evaluation_results.json for auditability.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B7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AND DELIVERY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96112"/>
            <a:ext cx="8778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 and Reproduce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9966960" y="50292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E7F7F0"/>
          </a:solidFill>
          <a:ln w="9525">
            <a:solidFill>
              <a:srgbClr val="1F9D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94976" y="612648"/>
            <a:ext cx="91440" cy="91440"/>
          </a:xfrm>
          <a:prstGeom prst="ellipse">
            <a:avLst/>
          </a:prstGeom>
          <a:solidFill>
            <a:srgbClr val="1F9D6B"/>
          </a:solidFill>
          <a:ln/>
        </p:spPr>
      </p:sp>
      <p:sp>
        <p:nvSpPr>
          <p:cNvPr id="7" name="Text 5"/>
          <p:cNvSpPr/>
          <p:nvPr/>
        </p:nvSpPr>
        <p:spPr>
          <a:xfrm>
            <a:off x="10241280" y="502920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9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481328"/>
            <a:ext cx="10908792" cy="0"/>
          </a:xfrm>
          <a:prstGeom prst="line">
            <a:avLst/>
          </a:prstGeom>
          <a:noFill/>
          <a:ln w="12700">
            <a:solidFill>
              <a:srgbClr val="DCE4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783080"/>
            <a:ext cx="384048" cy="384048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783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092" dirty="0"/>
          </a:p>
        </p:txBody>
      </p:sp>
      <p:sp>
        <p:nvSpPr>
          <p:cNvPr id="11" name="Text 9"/>
          <p:cNvSpPr/>
          <p:nvPr/>
        </p:nvSpPr>
        <p:spPr>
          <a:xfrm>
            <a:off x="1152144" y="1783080"/>
            <a:ext cx="3008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Packaged Deliverables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58368" y="2350008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CSVs, trained checkpoints, per-run sweep reports together.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58368" y="3127248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registries so decoding stays consistent across machines.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58368" y="3904488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artifacts: utility, privacy, PASS/FAIL logs.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416552" y="1783080"/>
            <a:ext cx="384048" cy="384048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16" name="Text 14"/>
          <p:cNvSpPr/>
          <p:nvPr/>
        </p:nvSpPr>
        <p:spPr>
          <a:xfrm>
            <a:off x="4416552" y="1783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092" dirty="0"/>
          </a:p>
        </p:txBody>
      </p:sp>
      <p:sp>
        <p:nvSpPr>
          <p:cNvPr id="17" name="Text 15"/>
          <p:cNvSpPr/>
          <p:nvPr/>
        </p:nvSpPr>
        <p:spPr>
          <a:xfrm>
            <a:off x="4928616" y="1783080"/>
            <a:ext cx="3008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Execution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434840" y="2350008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One-command end-to-end runner script for the full pipeline.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434840" y="3127248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Kaggle runner: reinstall, verify CUDA, run.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434840" y="3904488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writes so restarts do not corrupt runs.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193024" y="1783080"/>
            <a:ext cx="384048" cy="384048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22" name="Text 20"/>
          <p:cNvSpPr/>
          <p:nvPr/>
        </p:nvSpPr>
        <p:spPr>
          <a:xfrm>
            <a:off x="8193024" y="1783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92" dirty="0"/>
          </a:p>
        </p:txBody>
      </p:sp>
      <p:sp>
        <p:nvSpPr>
          <p:cNvPr id="23" name="Text 21"/>
          <p:cNvSpPr/>
          <p:nvPr/>
        </p:nvSpPr>
        <p:spPr>
          <a:xfrm>
            <a:off x="8705088" y="1783080"/>
            <a:ext cx="3008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&amp; Auditability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8211312" y="2350008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diagrams, phase reports, audit reports as documentation.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211312" y="3127248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validate components and round-trip decoding.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320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931920"/>
            <a:ext cx="5486400" cy="54864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33172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2A3C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2834640" y="283464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Additional Insights &amp; Final Thoughts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2880360" y="2788920"/>
            <a:ext cx="0" cy="1051560"/>
          </a:xfrm>
          <a:prstGeom prst="line">
            <a:avLst/>
          </a:prstGeom>
          <a:noFill/>
          <a:ln w="38100">
            <a:solidFill>
              <a:srgbClr val="0FA3A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B7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INSIGHTS AND FINAL THOUGHTS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Small-Dataset Branch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908792" cy="0"/>
          </a:xfrm>
          <a:prstGeom prst="line">
            <a:avLst/>
          </a:prstGeom>
          <a:noFill/>
          <a:ln w="12700">
            <a:solidFill>
              <a:srgbClr val="DCE4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737360"/>
            <a:ext cx="384048" cy="384048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7373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092" dirty="0"/>
          </a:p>
        </p:txBody>
      </p:sp>
      <p:sp>
        <p:nvSpPr>
          <p:cNvPr id="7" name="Text 5"/>
          <p:cNvSpPr/>
          <p:nvPr/>
        </p:nvSpPr>
        <p:spPr>
          <a:xfrm>
            <a:off x="1152144" y="1737360"/>
            <a:ext cx="48828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Small-N Needs a Different Path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58368" y="2331720"/>
            <a:ext cx="5349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too few rows, DP noise can overpower learning signal.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8368" y="2843784"/>
            <a:ext cx="5349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 categories become near-unique fingerprints, hurting utility.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537960" y="1737360"/>
            <a:ext cx="384048" cy="384048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17373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092" dirty="0"/>
          </a:p>
        </p:txBody>
      </p:sp>
      <p:sp>
        <p:nvSpPr>
          <p:cNvPr id="12" name="Text 10"/>
          <p:cNvSpPr/>
          <p:nvPr/>
        </p:nvSpPr>
        <p:spPr>
          <a:xfrm>
            <a:off x="7050024" y="1737360"/>
            <a:ext cx="48828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 + Schema Adapter Strategy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56248" y="2331720"/>
            <a:ext cx="5349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 previously trained backbone from the model registry.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56248" y="2843784"/>
            <a:ext cx="5349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the backbone; attach new input/output layers for the schema.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4114800"/>
            <a:ext cx="10908792" cy="1600200"/>
          </a:xfrm>
          <a:prstGeom prst="roundRect">
            <a:avLst>
              <a:gd name="adj" fmla="val 4571"/>
            </a:avLst>
          </a:prstGeom>
          <a:solidFill>
            <a:srgbClr val="EAF1F6"/>
          </a:solidFill>
          <a:ln w="12700">
            <a:solidFill>
              <a:srgbClr val="EAF1F6"/>
            </a:solidFill>
            <a:prstDash val="solid"/>
          </a:ln>
          <a:effectLst>
            <a:outerShdw sx="100000" sy="100000" kx="0" ky="0" algn="bl" rotWithShape="0" blurRad="101600" dist="38100" dir="5400000">
              <a:srgbClr val="1A2233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14400" y="427939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B7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 FINE-TUNE ONLY WHAT'S NECESSARY  · 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14400" y="4617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only the adapter parameters under DP-SGD for this dataset; track privacy spend independently as (ε, δ).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utility than scratch training, while keeping formal DP protection — best when the new schema is close to a registered backbone.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B7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INSIGHTS AND FINAL THOUGHTS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Results Mean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908792" cy="0"/>
          </a:xfrm>
          <a:prstGeom prst="line">
            <a:avLst/>
          </a:prstGeom>
          <a:noFill/>
          <a:ln w="12700">
            <a:solidFill>
              <a:srgbClr val="DCE4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91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↔ Utility Tradeoff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05740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epsilon adds more DP noise, reducing statistical fidelity.</a:t>
            </a:r>
            <a:endParaRPr lang="en-US" sz="1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3B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epsilon reduces noise, improving realism but relaxing privacy.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3200400"/>
            <a:ext cx="3453384" cy="2468880"/>
          </a:xfrm>
          <a:prstGeom prst="roundRect">
            <a:avLst>
              <a:gd name="adj" fmla="val 2963"/>
            </a:avLst>
          </a:prstGeom>
          <a:solidFill>
            <a:srgbClr val="FBFCFD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1A2233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3200400"/>
            <a:ext cx="73152" cy="246888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429000"/>
            <a:ext cx="29961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ε = 0.1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14400" y="4069080"/>
            <a:ext cx="29961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High-security releases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14400" y="4434840"/>
            <a:ext cx="29961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analytics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67784" y="3200400"/>
            <a:ext cx="3453384" cy="2468880"/>
          </a:xfrm>
          <a:prstGeom prst="roundRect">
            <a:avLst>
              <a:gd name="adj" fmla="val 2963"/>
            </a:avLst>
          </a:prstGeom>
          <a:solidFill>
            <a:srgbClr val="FBFCFD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1A2233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67784" y="3200400"/>
            <a:ext cx="73152" cy="2468880"/>
          </a:xfrm>
          <a:prstGeom prst="rect">
            <a:avLst/>
          </a:prstGeom>
          <a:solidFill>
            <a:srgbClr val="0B7D7D"/>
          </a:solidFill>
          <a:ln/>
        </p:spPr>
      </p:sp>
      <p:sp>
        <p:nvSpPr>
          <p:cNvPr id="14" name="Text 12"/>
          <p:cNvSpPr/>
          <p:nvPr/>
        </p:nvSpPr>
        <p:spPr>
          <a:xfrm>
            <a:off x="4642104" y="3429000"/>
            <a:ext cx="29961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7D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ε = 1.0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642104" y="4069080"/>
            <a:ext cx="29961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balance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642104" y="4434840"/>
            <a:ext cx="29961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sharing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095488" y="3200400"/>
            <a:ext cx="3453384" cy="2468880"/>
          </a:xfrm>
          <a:prstGeom prst="roundRect">
            <a:avLst>
              <a:gd name="adj" fmla="val 2963"/>
            </a:avLst>
          </a:prstGeom>
          <a:solidFill>
            <a:srgbClr val="FBFCFD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101600" dist="38100" dir="5400000">
              <a:srgbClr val="1A2233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095488" y="3200400"/>
            <a:ext cx="73152" cy="2468880"/>
          </a:xfrm>
          <a:prstGeom prst="rect">
            <a:avLst/>
          </a:prstGeom>
          <a:solidFill>
            <a:srgbClr val="1F9D6B"/>
          </a:solidFill>
          <a:ln/>
        </p:spPr>
      </p:sp>
      <p:sp>
        <p:nvSpPr>
          <p:cNvPr id="19" name="Text 17"/>
          <p:cNvSpPr/>
          <p:nvPr/>
        </p:nvSpPr>
        <p:spPr>
          <a:xfrm>
            <a:off x="8369808" y="3429000"/>
            <a:ext cx="29961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9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ε = 10.0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369808" y="4069080"/>
            <a:ext cx="29961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utility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369808" y="4434840"/>
            <a:ext cx="29961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research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320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1645920"/>
            <a:ext cx="5486400" cy="54864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INSIGHTS AND FINAL THOUGHTS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Takeaways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3453384" cy="3840480"/>
          </a:xfrm>
          <a:prstGeom prst="roundRect">
            <a:avLst>
              <a:gd name="adj" fmla="val 2118"/>
            </a:avLst>
          </a:prstGeom>
          <a:solidFill>
            <a:srgbClr val="1B2A4A"/>
          </a:solidFill>
          <a:ln w="12700">
            <a:solidFill>
              <a:srgbClr val="3145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103120"/>
            <a:ext cx="457200" cy="457200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20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697480"/>
            <a:ext cx="29047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by Design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3383280"/>
            <a:ext cx="2904744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C7D3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Auto-profiling + schema registry lets the pipeline fit new tables.</a:t>
            </a:r>
            <a:endParaRPr lang="en-US" sz="11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C7D3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Invertible transforms keep synthetic outputs consistent with real schemas.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67784" y="1828800"/>
            <a:ext cx="3453384" cy="3840480"/>
          </a:xfrm>
          <a:prstGeom prst="roundRect">
            <a:avLst>
              <a:gd name="adj" fmla="val 2118"/>
            </a:avLst>
          </a:prstGeom>
          <a:solidFill>
            <a:srgbClr val="1B2A4A"/>
          </a:solidFill>
          <a:ln w="12700">
            <a:solidFill>
              <a:srgbClr val="3145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42104" y="2103120"/>
            <a:ext cx="457200" cy="457200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12" name="Text 10"/>
          <p:cNvSpPr/>
          <p:nvPr/>
        </p:nvSpPr>
        <p:spPr>
          <a:xfrm>
            <a:off x="4642104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20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42104" y="2697480"/>
            <a:ext cx="29047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 Privacy, Not Vibes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642104" y="3383280"/>
            <a:ext cx="2904744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C7D3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DP-SGD uses clipping, Gaussian noise, and a single privacy accountant.</a:t>
            </a:r>
            <a:endParaRPr lang="en-US" sz="11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C7D3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Red-team gates check HIPAA leakage, memorization, and MIA risk.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95488" y="1828800"/>
            <a:ext cx="3453384" cy="3840480"/>
          </a:xfrm>
          <a:prstGeom prst="roundRect">
            <a:avLst>
              <a:gd name="adj" fmla="val 2118"/>
            </a:avLst>
          </a:prstGeom>
          <a:solidFill>
            <a:srgbClr val="1B2A4A"/>
          </a:solidFill>
          <a:ln w="12700">
            <a:solidFill>
              <a:srgbClr val="31456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69808" y="2103120"/>
            <a:ext cx="457200" cy="457200"/>
          </a:xfrm>
          <a:prstGeom prst="ellipse">
            <a:avLst/>
          </a:prstGeom>
          <a:solidFill>
            <a:srgbClr val="0FA3A3"/>
          </a:solidFill>
          <a:ln/>
        </p:spPr>
      </p:sp>
      <p:sp>
        <p:nvSpPr>
          <p:cNvPr id="17" name="Text 15"/>
          <p:cNvSpPr/>
          <p:nvPr/>
        </p:nvSpPr>
        <p:spPr>
          <a:xfrm>
            <a:off x="8369808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20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69808" y="2697480"/>
            <a:ext cx="29047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Path to Release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369808" y="3383280"/>
            <a:ext cx="2904744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C7D3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build from clean tensor to DP training, then evaluation evidence.</a:t>
            </a:r>
            <a:endParaRPr lang="en-US" sz="11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C7D3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= research utility with a formal (ε, δ) guarantee.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320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3657600"/>
            <a:ext cx="5943600" cy="59436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0116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STATUS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2377440"/>
            <a:ext cx="8686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10 phases implemented,</a:t>
            </a:r>
            <a:endParaRPr lang="en-US" sz="3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evaluated, and delivered.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60" y="39776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B9C6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4937760"/>
            <a:ext cx="7863840" cy="0"/>
          </a:xfrm>
          <a:prstGeom prst="line">
            <a:avLst/>
          </a:prstGeom>
          <a:noFill/>
          <a:ln w="12700">
            <a:solidFill>
              <a:srgbClr val="3145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51206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Sathya Sai 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542239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24MID0112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520440" y="51206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Sudharshini Manikandan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520440" y="542239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24MID0135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217920" y="51206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Vishwa 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217920" y="542239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24MID0119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2026-08-19T18:51:10Z</dcterms:created>
  <dcterms:modified xsi:type="dcterms:W3CDTF">2026-08-19T18:51:10Z</dcterms:modified>
</cp:coreProperties>
</file>